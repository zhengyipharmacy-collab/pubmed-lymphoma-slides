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57" r:id="rId8"/>
    <p:sldId id="258" r:id="rId9"/>
    <p:sldId id="268" r:id="rId10"/>
    <p:sldId id="269" r:id="rId11"/>
    <p:sldId id="264" r:id="rId12"/>
    <p:sldId id="265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94360"/>
            <a:ext cx="32004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0D6E72"/>
                </a:solidFill>
                <a:latin typeface="Microsoft YaHei"/>
              </a:rPr>
              <a:t>PubMed daily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5120640" cy="114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600" b="1">
                <a:solidFill>
                  <a:srgbClr val="18212B"/>
                </a:solidFill>
                <a:latin typeface="Microsoft YaHei"/>
              </a:rPr>
              <a:t>DLBCL / CNSL 新治疗文献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0" y="658368"/>
            <a:ext cx="4846320" cy="9144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查询范围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近 7 天 PubMed 新增/更新窗口：2026-05-26 至 2026-06-02。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783080"/>
            <a:ext cx="48463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本日总体结论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近 7 天窗口内高相关命中不密集，但双抗安全性出现新的高相关信号。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本版按逻辑重排：DLBCL 双抗排序与实施 -&gt; DLBCL/CNS 预防 -&gt; PCNSL/CNSL 治疗与亚群。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近期主线仍是双抗 CAR-T 后排序、双抗门诊化、安全边界、CNS 预防毒性代价，以及 BTKi 在 PCNSL 前移。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 PPT 为可编辑版，配套 HTML、PDF 和每日归档链接。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657600"/>
            <a:ext cx="10972800" cy="164592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下载与归档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固定入口：https://zhengyipharmacy-collab.github.io/pubmed-lymphoma-slides/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PDF：pubmed-dlbcl-cnsl-btki-2026-06-02.pdf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PPTX：pubmed-dlbcl-cnsl-btki-2026-06-02.pptx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归档：archive/2026-06-02/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1 / CAR-T 后双抗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CAR-T 失败后 R/R LBCL 双抗挽救治疗</a:t>
            </a:r>
            <a:br/>
            <a:r>
              <a:t>Anti-CD3/CD20 bispecific antibodies after CAR-T failure in R/R LBCL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Ann Hematol | Ning Yuan | PMID 42118323 | 系统综述 + Meta 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失败后 CD3×CD20 双抗仍有活性，但疗效明显受复发时间影响。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纳入 15 项研究、1,169 例 CAR-T 后进展的 R/R LBCL 患者。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合并 ORR 45%，CR 30%；低于 CAR-T naive 人群。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后越晚复发，双抗应答越好。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≤90 天复发 ORR 26%；181 天到 1 年复发 ORR 71%。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Epcoritamab 在纳入数据里 ORR 最高。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联合方案和皮下给药的应答优于单药和静脉方案。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已验证证据：CAR-T 暴露史降低双抗总体疗效。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作者观点：双抗是 CAR-T 失败后的挽救路径。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我的推断：日报必须固定记录 CAR-T 前/后和复发间隔。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1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CAR-T 后双抗挽救治疗：结构化摘要与 PICO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目的：评估 CAR-T 失败后 CD3×CD20 双抗在 R/R LBCL 的疗效与安全性。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方法：系统回顾 2021-2025 年临床研究，随机效应模型合并分析。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结果：合并 ORR 45%，CR 30%；早复发组疗效最差，晚复发组疗效最好。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安全性：CRS 最常见，多为 1-2 级；神经毒性和血液学毒性可控。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CAR-T 后进展或复发的 R/R LBCL 患者。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CD3×CD20 双抗，包括 epcoritamab、glofitamab、mosunetuzumab 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CAR-T naive 双抗人群、不同复发时间亚组、单药/联合和 SC/IV 给药亚组。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ORR、CR、CRS、神经毒性；重点看 CAR-T 后复发间隔对疗效的影响。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011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总体疗效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ORR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1172717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781811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CAR-T naive ORR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1798167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66160"/>
            <a:ext cx="512064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按 CAR-T 后复发时间分层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050792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≤90 天 ORR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4069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955279" y="4069080"/>
            <a:ext cx="67757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52759" y="4041648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434840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91-180 天 ORR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453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55279" y="4453128"/>
            <a:ext cx="1485442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52759" y="4425696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57%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818888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181 天-1 年 ORR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837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55279" y="4837176"/>
            <a:ext cx="1850288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52759" y="4809744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71%</a:t>
            </a:r>
          </a:p>
        </p:txBody>
      </p:sp>
      <p:pic>
        <p:nvPicPr>
          <p:cNvPr id="41" name="Picture 40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Review / Meta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CAR-T 后双抗：主要 Figure 与流程图复刻</a:t>
            </a:r>
            <a:br/>
            <a:r>
              <a:t>Review / meta figure and clinical flow chart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30352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按 CAR-T 后复发时间分层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≤90 天 ORR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920240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0" y="1920240"/>
            <a:ext cx="725119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66359" y="1892808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86000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91-180 天 ORR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304288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0" y="2304288"/>
            <a:ext cx="1589684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59" y="2276856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57%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670048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181 天-1 年 ORR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688336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86000" y="2688336"/>
            <a:ext cx="1980133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59" y="2660904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11880"/>
            <a:ext cx="530352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总体疗效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096512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ORR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114800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86000" y="4114800"/>
            <a:ext cx="1255014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66359" y="4087368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480560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4498848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86000" y="4498848"/>
            <a:ext cx="836676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66359" y="4471416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864608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CAR-T naive ORR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882896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286000" y="4882896"/>
            <a:ext cx="1924354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66359" y="4855464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417320"/>
            <a:ext cx="5120640" cy="19659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流程图式 chart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82512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55664" y="2075688"/>
            <a:ext cx="939546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CAR-T 失败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2377440"/>
            <a:ext cx="939546" cy="731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记录复发/进展距 CAR-T 的时间。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5794" y="2487168"/>
            <a:ext cx="109728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0D6E72"/>
                </a:solidFill>
                <a:latin typeface="Microsoft YaHei"/>
              </a:rPr>
              <a:t>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2954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06106" y="2075688"/>
            <a:ext cx="939546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时间分层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6106" y="2377440"/>
            <a:ext cx="939546" cy="731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≤90 天、91-180 天、181 天-1 年。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6236" y="2487168"/>
            <a:ext cx="109728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0D6E72"/>
                </a:solidFill>
                <a:latin typeface="Microsoft YaHei"/>
              </a:rPr>
              <a:t>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83396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56548" y="2075688"/>
            <a:ext cx="939546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双抗变量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56548" y="2377440"/>
            <a:ext cx="939546" cy="731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药物、单/联合、皮下/静脉给药。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96678" y="2487168"/>
            <a:ext cx="109728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0D6E72"/>
                </a:solidFill>
                <a:latin typeface="Microsoft YaHei"/>
              </a:rPr>
              <a:t>&gt;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33838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06990" y="2075688"/>
            <a:ext cx="939546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结局判断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06990" y="2377440"/>
            <a:ext cx="939546" cy="731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ORR/CR，同时核对 CRS 与神经毒性。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703320"/>
            <a:ext cx="5120640" cy="16916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Figure / chart 说明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本页不是原文图片复制，而是基于摘要数字和研究逻辑重绘的可编辑图形与流程图；若 review 原文有开放许可 figure，后续优先贴入原图或按原图结构复刻。</a:t>
            </a:r>
          </a:p>
        </p:txBody>
      </p:sp>
      <p:pic>
        <p:nvPicPr>
          <p:cNvPr id="48" name="Picture 47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2 / 双抗门诊化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Epcoritamab 单药门诊治疗 R/R DLBCL</a:t>
            </a:r>
            <a:br/>
            <a:r>
              <a:t>Epcoritamab monotherapy as outpatient treatment for R/R DLBCL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Clin Lymphoma Myeloma Leuk | David Andorsky | PMID 41881714 | 临床试验中期结果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Epcoritamab 的重点不只是有效，而是把 DLBCL 双抗推进到门诊给药和门诊监测路径。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EPCORE NHL-6 评估 2L+ R/R DLBCL 皮下注射 epcoritamab 的门诊实施。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首个完整剂量后，门诊路径本身成为研究问题。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研究跟踪 CRS、ICANS 和首剂后监测时点。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公开更新数据显示 92% 首次完整剂量在门诊完成监测。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整体 ORR 62.0%，CR 42.4%；2L ORR 64.3%，CR 47.6%。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整体 CRS 40.2%，ICANS 7.6%。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已验证证据：epcoritamab 具备门诊实施可行性。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作者观点：常规住院监测不是唯一可行路径。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我的推断：未来比较的是药物 + 监测成本 + 可及性的组合。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2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Epcoritamab 门诊化：实施与疗效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背景：既往获批路径通常要求首次完整剂量后住院监测，限制双抗可及性。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设计：28 天为一周期，step-up 后给 48 mg 完整剂量。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结果：92 例入组，88 例接受首次完整剂量；81 例在门诊完成监测。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备注：图表采用同研究公开更新数据补足细项。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2L+ R/R DLBCL 患者，接受 epcoritamab 皮下注射治疗。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Step-up dosing 后首个完整剂量在门诊监测的实施路径。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既往要求住院监测的 epcoritamab 路径与历史安全性背景。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门诊完成比例、CRS、ICANS、ORR、CR 和分线疗效。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240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门诊实施与安全性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首次完整剂量门诊监测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2397556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整体 CRS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1047628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40.2%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整体 ICANS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198059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完整剂量后 CRS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935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79" y="2935224"/>
            <a:ext cx="82872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52759" y="2907792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31.8%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120640" cy="2011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疗效公开更新数据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87952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总体 ORR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20624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55279" y="4206240"/>
            <a:ext cx="1615744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52759" y="4178807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572000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总体 CR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59028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55279" y="4590288"/>
            <a:ext cx="1104960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52759" y="4562855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42.4%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956048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2L ORR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97433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955279" y="4974336"/>
            <a:ext cx="1675683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652759" y="4946903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64.3%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340096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3L+ ORR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5358383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955279" y="5358383"/>
            <a:ext cx="1563623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652759" y="5330951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60%</a:t>
            </a:r>
          </a:p>
        </p:txBody>
      </p:sp>
      <p:pic>
        <p:nvPicPr>
          <p:cNvPr id="49" name="Picture 48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3 / 双抗安全性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复发/难治 B 细胞 NHL 双抗相关心血管不良事件</a:t>
            </a:r>
            <a:br/>
            <a:r>
              <a:t>Cardiovascular adverse events associated with bispecific antibodies in R/R B-cell NHL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J Hematol Oncol | Malak Munir | PMID 42192442 | B-cell NHL / DLBCL 双抗安全性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双抗相关不良事件不能只盯 CRS/ICANS；心血管不良事件和死亡信号值得前移监测。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FAERS 2022-12 至 2025-09，分析 mosunetuzumab、glofitamab、epcoritamab。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1,931 份双抗相关 AE 中，336 份报告出现心血管事件。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常见事件为休克、出血、低血压；节律异常并不总与 CRS 同步。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CVAE 占 17.4%；CVAE 中 39.3% 为致死报告。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低血压 aROR 2.15；致死性 CVAE aROR 2.04。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Epcoritamab 低血压信号更强；mosunetuzumab 更偏节律异常。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已验证证据：双抗存在可见心血管毒性信号。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作者观点：需要风险分层和针对性心血管评估。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我的推断：门诊化后基线心血管风险会变成方案设计变量。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3 / 摘要、PECO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双抗相关心血管 AE：摘要数字重绘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背景：已获批双抗从试验环境扩展到 R/R B-cell NHL 实践，心血管毒性识别不足。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方法：回顾 FAERS 自发上报数据，比较双抗相关 CVAE 与全库其他药物报告。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结果：低血压、出血、休克最常见；低血压和致死 CVAE 的类效应信号突出。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局限：自发上报数据库不能给真实发生率，存在漏报和混杂。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研究框架（PECO）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FAERS 中 R/R B-cell NHL 双抗相关 AE 报告，直接关联 DLBCL 双抗使用场景。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E 暴露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Mosunetuzumab、glofitamab、epcoritamab 等 CD20/CD3 双抗。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参照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FAERS 全库其他药物报告，以及双抗相关非 CVAE 报告。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CVAE、低血压、休克、出血、心律失常和致死性 CVAE。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011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双抗相关 AE 中的心血管负担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CVAE / 双抗 AE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45345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17.4%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致死 / CVAE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1024173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39.3%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CRS 并发 / 双抗 AE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870417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33.4%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66160"/>
            <a:ext cx="5120640" cy="21945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关键信号强度 aROR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050792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低血压 双抗整体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4069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955279" y="4069080"/>
            <a:ext cx="1402049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52759" y="4041648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2.15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434840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致死 CVAE 双抗整体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453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55279" y="4453128"/>
            <a:ext cx="132908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52759" y="4425696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2.04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818888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低血压 epcoritamab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837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55279" y="4837176"/>
            <a:ext cx="1545381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52759" y="4809744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2.37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5202936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房颤/房扑 mosunetuzumab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5221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955279" y="5221224"/>
            <a:ext cx="198059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652759" y="5193792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3.04</a:t>
            </a:r>
          </a:p>
        </p:txBody>
      </p:sp>
      <p:pic>
        <p:nvPicPr>
          <p:cNvPr id="45" name="Picture 44" descr="slid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4 / CNS 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DLBCL CNS 预防的疗效与毒性（CLSG-CNS-01）</a:t>
            </a:r>
            <a:br/>
            <a:r>
              <a:t>The Efficacy and Toxicity of CNS Prophylaxis in DLBCL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Hematol Oncol | H Mocikova | PMID 42062177 | 随机、多中心、前瞻性 III 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该随机试验未证明静脉 HD-MTX 预防优于鞘内 MTX；毒性代价更清晰。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中高危 CNS-IPI 随机接受 2 次静脉 HD-MTX 或 6 次鞘内 MTX。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总计入组 100 例：A 组 30，B 组 31，C 组 39；中位随访 54.9 个月。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5 年 CNS 复发 A 组 0%，B 组 8.7%，但样本量不足。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静脉 HD-MTX 组 G≥3 中性粒细胞减少和感染更多。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5 年 OS：静脉组 47.2%，鞘内组 72.4%。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作者认为仍需更大国际随机研究。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已验证证据：未给出静脉预防更优的坚实证据。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作者观点：需要更大随机试验。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我的推断：CNS 预防会转向精准识别真正高风险者。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4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DLBCL CNS 预防：结局与毒性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背景：DLBCL 的 CNS 预防长期存在静脉高剂量 vs 鞘内争议。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方法：中高危 CNS-IPI 随机分配到静脉 MTX 或鞘内 MTX。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结果：5 年 CNS 复发 A 组 0%，B 组 8.7%，PFS 无显著差异。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毒性：静脉组重度中性粒细胞减少和感染更多。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中高危 CNS-IPI 的系统性 DLBCL 患者；另有低危不预防观察组。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2 次 3 g/m² 静脉高剂量 methotrexate CNS 预防。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6 次 12 mg 鞘内 methotrexate；低危组不接受 CNS 预防。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5 年 CNS 复发、PFS、OS、G≥3 中性粒细胞减少和感染。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240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5 年结局对比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CNS 复发 静脉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CNS 复发 鞘内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226725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8.7%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5 年 OS 静脉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123005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47.2%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5 年 OS 鞘内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935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79" y="2935224"/>
            <a:ext cx="1886772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52759" y="2907792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72.4%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12064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研究设计与毒性提示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A 组 30，B 组 31，C 组 39；样本量不足，不能过度解读 0% vs 8.7%。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静脉 HD-MTX 组重度中性粒细胞减少 p=0.0003、感染 p=0.0063。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毒性和系统治疗延迟本身就是重要结局。</a:t>
            </a:r>
          </a:p>
        </p:txBody>
      </p:sp>
      <p:pic>
        <p:nvPicPr>
          <p:cNvPr id="33" name="Picture 32" descr="slid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5 / PCNSL BTKi 前移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Ibrutinib 联合 R-MVP 治疗新诊断 PCNSL</a:t>
            </a:r>
            <a:br/>
            <a:r>
              <a:t>Ibrutinib + R-MVP for newly diagnosed primary CNS lymphoma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Neuro Oncol | Lauren R Schaff | PMID 41557853 | 单中心 II 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BTKi 在 PCNSL 中不只是复发补救；ibrutinib 已被前移进入新诊断 PCNSL 组合诱导探索。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R-MVP 基础上加入 ibrutinib，目标是提高新诊断 PCNSL 完全缓解率。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共入组 30 例，中位年龄 69 岁；29 例完成 R-MVP/i。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CR/CRu 达 29/30，提示 BTK 抑制前移有较强诱导活性。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CR/CRu 率 97%，2 年 PFS 84.2%。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文摘显示未观察到 5 级毒性。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更适合解读为前移可行性和深度缓解信号。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已验证证据：R-MVP/i 诱导取得高 CR/CRu。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作者观点：加入 ibrutinib 可能提高完全缓解深度。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我的推断：CNSL 监测要看 BTKi 在诱导、巩固、维持中的位置变化。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5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R-MVP/i 关键结果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背景：HD-MTX 仍是一线主干，但新诊断 PCNSL 仍需提高缓解深度。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方法：在 R-MVP 组合中加入 ibrutinib，观察 CR 提升。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结果：30 例中 29 例达 CR/CRu，1 例 PR；中位随访 25.1 个月，PFS/OS 中位未达到。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安全性：文摘未见 5 级毒性。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新诊断 primary CNS lymphoma 患者。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Ibrutinib 联合 rituximab、MTX、vincristine、procarbazine 诱导。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历史 R-MVP / HD-MTX 主干背景；本研究为单臂 II 期，无随机对照。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CR/CRu、PFS、OS、严重毒性和 5 级毒性。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3774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R-MVP/i 关键结果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完成 R-MVP/i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252004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29/30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CR / CRu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2520040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29/30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85999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1/30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2 年 PFS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935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79" y="2935224"/>
            <a:ext cx="2194285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52759" y="2907792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84.2%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069080"/>
            <a:ext cx="5120640" cy="1097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读法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这是单臂 II 期，不应用作直接优于标准方案的结论；价值在于 BTKi 前移进入新诊断 PCNSL 的方向信号。</a:t>
            </a:r>
          </a:p>
        </p:txBody>
      </p:sp>
      <p:pic>
        <p:nvPicPr>
          <p:cNvPr id="33" name="Picture 32" descr="slide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6 / ID-PCNSL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免疫缺陷相关 PCNSL：国际协作组研究</a:t>
            </a:r>
            <a:br/>
            <a:r>
              <a:t>Immunodeficiency-associated primary CNS lymphomas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Blood | Leon D Kaulen | PMID 41843467 | 国际多中心回顾性研究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免疫缺陷相关 PCNSL 不是普通 PCNSL 的简单复制版；免疫背景和 EBV 状态要进入固定字段。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23 个中心、7 个国家，共 308 例 ID-PCNSL。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基础免疫缺陷包括移植后免疫抑制、自身免疫病免疫抑制和 HIV。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所有肿瘤均为 DLBCL，EBV 阳性比例高。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免疫重建联合 RM 方案获得更高应答率和更长 PFS。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中位 OS 54 个月。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年龄、KPS&lt;70、EBV 阳性均是 OS 不良因素。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已验证证据：ID-PCNSL 是不同的 PCNSL 亚群。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作者观点：需要专门预后分层。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我的推断：免疫缺陷背景、EBV 状态和免疫重建路径应进入固定字段。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6 / 摘要、PECO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ID-PCNSL：免疫背景与预后因素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背景：ID-PCNSL 缺少大样本研究和可靠预后模型。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方法：国际多中心回顾队列，分析临床、病理、影像和治疗结局。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结果：移植相关 41.2%，自身免疫相关 36.7%，HIV 21.7%；EBV 阳性 79.2%。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预后：年龄、低 KPS、EBV 阳性与更差 OS 独立相关。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研究框架（PECO）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免疫缺陷相关 PCNSL，来自 23 个中心、7 个国家的回顾队列。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E 暴露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移植后免疫抑制、自身免疫病免疫抑制、HIV、EBV 阳性等背景。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参照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不同免疫缺陷背景、免疫重建路径和预后因素分层。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应答率、PFS、OS，以及年龄、KPS、EBV 状态的 HR。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240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免疫缺陷背景构成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移植后免疫抑制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1073688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41.2%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自身免疫病免疫抑制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956416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36.7%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HIV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56551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21.7%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EBV 阳性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935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79" y="2935224"/>
            <a:ext cx="2063983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52759" y="2907792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79.2%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120640" cy="1874519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bIns="73152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预后因素 HR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87952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年龄 每增加 1 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20624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55279" y="4206240"/>
            <a:ext cx="682782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52759" y="4178807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1.05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572000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KPS &lt;70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59028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55279" y="4590288"/>
            <a:ext cx="2019680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52759" y="4562855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3.10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956048"/>
            <a:ext cx="155448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EBV 阳性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97433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955279" y="4974336"/>
            <a:ext cx="2123922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652759" y="4946903"/>
            <a:ext cx="5486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3.26</a:t>
            </a:r>
          </a:p>
        </p:txBody>
      </p:sp>
      <p:pic>
        <p:nvPicPr>
          <p:cNvPr id="45" name="Picture 44" descr="slide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Daily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今日综合判断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303520" cy="15087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DLBCL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本日主线不是单个颠覆性疗效，而是双抗在排序、门诊化和安全边界上继续细化。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后双抗仍可用，但复发时间决定价值高低。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双抗门诊化把实施路径变成核心研究问题。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303520" cy="15087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CNSL / PCNSL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PCNSL 重点继续盯 BTKi 前移，以及不同免疫背景下的异质性。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新诊断 PCNSL 中 ibrutinib 前移信号强。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ID-PCNSL 说明免疫缺陷背景不能被当作普通 PCNSL 的脚注。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63240"/>
            <a:ext cx="5303520" cy="13258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机制与转化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后续最值得监测的转化问题仍是耐药生物学、宿主状态和非肿瘤毒性。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后双抗应答差异、EBV 阳性预后分层、双抗心血管安全信号都值得保留。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063240"/>
            <a:ext cx="5303520" cy="13258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治疗排序 / 方案设计启示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固定记录：治疗类别、治疗线数、是否 CAR-T 后、复发时间、住院/门诊、CNS 角色、关键毒性。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这些字段比单独记 ORR 更接近真实决策。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10972800" cy="868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既往每日回看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8212B"/>
                </a:solidFill>
                <a:latin typeface="Microsoft YaHei"/>
              </a:rPr>
              <a:t>2026-06-02：https://zhengyipharmacy-collab.github.io/pubmed-lymphoma-slides/archive/2026-06-02/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8212B"/>
                </a:solidFill>
                <a:latin typeface="Microsoft YaHei"/>
              </a:rPr>
              <a:t>2026-06-01：https://zhengyipharmacy-collab.github.io/pubmed-lymphoma-slides/archive/2026-06-01/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1908</Words>
  <Application>Microsoft Office PowerPoint</Application>
  <PresentationFormat>宽屏</PresentationFormat>
  <Paragraphs>369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郑怡</cp:lastModifiedBy>
  <cp:revision>1</cp:revision>
  <dcterms:created xsi:type="dcterms:W3CDTF">2013-01-27T09:14:16Z</dcterms:created>
  <dcterms:modified xsi:type="dcterms:W3CDTF">2026-06-02T02:58:44Z</dcterms:modified>
  <cp:category/>
</cp:coreProperties>
</file>