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0" r:id="rId21"/>
    <p:sldId id="271" r:id="rId22"/>
    <p:sldId id="259" r:id="rId10"/>
    <p:sldId id="260" r:id="rId11"/>
    <p:sldId id="261" r:id="rId12"/>
    <p:sldId id="262" r:id="rId13"/>
    <p:sldId id="263" r:id="rId14"/>
    <p:sldId id="272" r:id="rId23"/>
    <p:sldId id="257" r:id="rId8"/>
    <p:sldId id="258" r:id="rId9"/>
    <p:sldId id="273" r:id="rId24"/>
    <p:sldId id="268" r:id="rId19"/>
    <p:sldId id="269" r:id="rId20"/>
    <p:sldId id="264" r:id="rId15"/>
    <p:sldId id="265" r:id="rId16"/>
    <p:sldId id="266" r:id="rId17"/>
    <p:sldId id="267" r:id="rId18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D6E72"/>
                </a:solidFill>
                <a:latin typeface="Microsoft YaHei"/>
              </a:rPr>
              <a:t>PubMed daily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512064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>
                <a:solidFill>
                  <a:srgbClr val="18212B"/>
                </a:solidFill>
                <a:latin typeface="Microsoft YaHei"/>
              </a:rPr>
              <a:t>DLBCL / CNSL 新治疗文献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658368"/>
            <a:ext cx="4846320" cy="9144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查询范围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 7 天 PubMed 新增/更新窗口：2026-05-27 至 2026-06-03。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783080"/>
            <a:ext cx="48463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本日总体结论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本次补跑确认 6 月 3 日 08:00 自动触发未产出；真实 Codex 自动化注册表已同步为每日 08:00。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本版按逻辑重排：DLBCL 双抗排序与实施 -&gt; DLBCL/CNS 预防 -&gt; PCNSL/CNSL 治疗与亚群。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近期主线仍是双抗 CAR-T 后排序、双抗门诊化、安全边界、CNS 预防毒性代价，以及 BTKi 在 PCNSL 前移。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本版纳入 10 篇：1 篇近 7 天窗口命中，9 篇近期高相关参考/补充；PPT 为可编辑版。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0"/>
            <a:ext cx="10972800" cy="164592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下载与归档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固定入口：https://zhengyipharmacy-collab.github.io/pubmed-lymphoma-slides/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PDF：pubmed-dlbcl-cnsl-btki-2026-06-03.pdf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PPTX：pubmed-dlbcl-cnsl-btki-2026-06-03.pptx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归档：archive/2026-06-03/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双抗安全性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复发/难治 B 细胞 NHL 双抗相关心血管不良事件</a:t>
            </a:r>
            <a:br/>
            <a:r>
              <a:t>Cardiovascular adverse events associated with bispecific antibodies in R/R B-cell NHL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J Hematol Oncol | Malak Munir | PMID 42192442 | B-cell NHL / DLBCL 双抗安全性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双抗相关不良事件不能只盯 CRS/ICANS；心血管不良事件和死亡信号值得前移监测。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FAERS 2022-12 至 2025-09，分析 mosunetuzumab、glofitamab、epcoritamab。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1,931 份双抗相关 AE 中，336 份报告出现心血管事件。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常见事件为休克、出血、低血压；节律异常并不总与 CRS 同步。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CVAE 占 17.4%；CVAE 中 39.3% 为致死报告。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低血压 aROR 2.15；致死性 CVAE aROR 2.04。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低血压信号更强；mosunetuzumab 更偏节律异常。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已验证证据：双抗存在可见心血管毒性信号。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作者观点：需要风险分层和针对性心血管评估。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我的推断：门诊化后基线心血管风险会变成方案设计变量。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双抗相关心血管 AE：摘要数字重绘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背景：已获批双抗从试验环境扩展到 R/R B-cell NHL 实践，心血管毒性识别不足。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方法：回顾 FAERS 自发上报数据，比较双抗相关 CVAE 与全库其他药物报告。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结果：低血压、出血、休克最常见；低血压和致死 CVAE 的类效应信号突出。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局限：自发上报数据库不能给真实发生率，存在漏报和混杂。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中 R/R B-cell NHL 双抗相关 AE 报告，直接关联 DLBCL 双抗使用场景。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Mosunetuzumab、glofitamab、epcoritamab 等 CD20/CD3 双抗。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全库其他药物报告，以及双抗相关非 CVAE 报告。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CVAE、低血压、休克、出血、心律失常和致死性 CVAE。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双抗相关 AE 中的心血管负担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CVAE / 双抗 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45345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17.4%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致死 / CVAE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102417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CRS 并发 / 双抗 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870417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33.4%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945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关键信号强度 aROR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低血压 双抗整体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1402049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59" y="4041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致死 CVAE 双抗整体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453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453128"/>
            <a:ext cx="132908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425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低血压 epcoritamab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837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837176"/>
            <a:ext cx="154538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809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202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房颤/房扑 mosunetuzumab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221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5221224"/>
            <a:ext cx="198059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59" y="5193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CAR-T 后双抗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失败后 R/R LBCL 双抗挽救治疗</a:t>
            </a:r>
            <a:br/>
            <a:r>
              <a:t>Anti-CD3/CD20 bispecific antibodies after CAR-T failure in R/R 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Ann Hematol | Ning Yuan | PMID 42118323 | 系统综述 + Meta 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失败后 CD3×CD20 双抗仍有活性，但疗效明显受复发时间影响。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纳入 15 项研究、1,169 例 CAR-T 后进展的 R/R LBCL 患者。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合并 ORR 45%，CR 30%；低于 CAR-T naive 人群。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后越晚复发，双抗应答越好。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≤90 天复发 ORR 26%；181 天到 1 年复发 ORR 71%。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在纳入数据里 ORR 最高。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联合方案和皮下给药的应答优于单药和静脉方案。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已验证证据：CAR-T 暴露史降低双抗总体疗效。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作者观点：双抗是 CAR-T 失败后的挽救路径。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我的推断：日报必须固定记录 CAR-T 前/后和复发间隔。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CAR-T 后双抗挽救治疗：结构化摘要与 PICO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目的：评估 CAR-T 失败后 CD3×CD20 双抗在 R/R LBCL 的疗效与安全性。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方法：系统回顾 2021-2025 年临床研究，随机效应模型合并分析。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结果：合并 ORR 45%，CR 30%；早复发组疗效最差，晚复发组疗效最好。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安全性：CRS 最常见，多为 1-2 级；神经毒性和血液学毒性可控。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后进展或复发的 R/R LBCL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CD3×CD20 双抗，包括 epcoritamab、glofitamab、mosunetuzumab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naive 双抗人群、不同复发时间亚组、单药/联合和 SC/IV 给药亚组。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ORR、CR、CRS、神经毒性；重点看 CAR-T 后复发间隔对疗效的影响。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1172717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78181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798167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67757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59" y="4041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453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453128"/>
            <a:ext cx="1485442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425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837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837176"/>
            <a:ext cx="185028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809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Review / Meta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后双抗：主要 Figure 与流程图复刻</a:t>
            </a:r>
            <a:br/>
            <a:r>
              <a:t>Review / meta figure and clinical flow chart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20240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1920240"/>
            <a:ext cx="72511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59" y="189280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304288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304288"/>
            <a:ext cx="1589684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27685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7004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688336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2688336"/>
            <a:ext cx="198013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266090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9651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114800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114800"/>
            <a:ext cx="1255014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408736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8056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498848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4498848"/>
            <a:ext cx="83667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59" y="447141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6460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882896"/>
            <a:ext cx="278892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4882896"/>
            <a:ext cx="1924354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485546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17320"/>
            <a:ext cx="5120640" cy="19659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流程图式 chart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CAR-T 失败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记录复发/进展距 CAR-T 的时间。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5794" y="2487168"/>
            <a:ext cx="109728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2954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6106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时间分层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6106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≤90 天、91-180 天、181 天-1 年。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6236" y="2487168"/>
            <a:ext cx="109728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3396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6548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双抗变量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6548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药物、单/联合、皮下/静脉给药。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6678" y="2487168"/>
            <a:ext cx="109728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3838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6990" y="2075688"/>
            <a:ext cx="93954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结局判断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6990" y="2377440"/>
            <a:ext cx="939546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ORR/CR，同时核对 CRS 与神经毒性。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703320"/>
            <a:ext cx="5120640" cy="16916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Figure / chart 说明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本页不是原文图片复制，而是基于摘要数字和研究逻辑重绘的可编辑图形与流程图；若 review 原文有开放许可 figure，后续优先贴入原图或按原图结构复刻。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双抗门诊化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Epcoritamab 单药门诊治疗 R/R DLBCL</a:t>
            </a:r>
            <a:br/>
            <a:r>
              <a:t>Epcoritamab monotherapy as outpatient treatment for R/R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Clin Lymphoma Myeloma Leuk | David Andorsky | PMID 41881714 | 临床试验中期结果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的重点不只是有效，而是把 DLBCL 双抗推进到门诊给药和门诊监测路径。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EPCORE NHL-6 评估 2L+ R/R DLBCL 皮下注射 epcoritamab 的门诊实施。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首个完整剂量后，门诊路径本身成为研究问题。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研究跟踪 CRS、ICANS 和首剂后监测时点。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公开更新数据显示 92% 首次完整剂量在门诊完成监测。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ORR 62.0%，CR 42.4%；2L ORR 64.3%，CR 47.6%。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CRS 40.2%，ICANS 7.6%。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已验证证据：epcoritamab 具备门诊实施可行性。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作者观点：常规住院监测不是唯一可行路径。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我的推断：未来比较的是药物 + 监测成本 + 可及性的组合。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Epcoritamab 门诊化：实施与疗效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背景：既往获批路径通常要求首次完整剂量后住院监测，限制双抗可及性。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设计：28 天为一周期，step-up 后给 48 mg 完整剂量。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结果：92 例入组，88 例接受首次完整剂量；81 例在门诊完成监测。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备注：图表采用同研究公开更新数据补足细项。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2L+ R/R DLBCL 患者，接受 epcoritamab 皮下注射治疗。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Step-up dosing 后首个完整剂量在门诊监测的实施路径。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既往要求住院监测的 epcoritamab 路径与历史安全性背景。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门诊完成比例、CRS、ICANS、ORR、CR 和分线疗效。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门诊实施与安全性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首次完整剂量门诊监测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2397556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整体 CRS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1047628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40.2%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整体 ICANS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9805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完整剂量后 CRS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82872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31.8%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疗效公开更新数据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总体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20624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206240"/>
            <a:ext cx="1615744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178807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总体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59028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590288"/>
            <a:ext cx="110496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562855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2L ORR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97433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4974336"/>
            <a:ext cx="167568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59" y="4946903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64.3%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34009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3L+ ORR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5358383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55279" y="5358383"/>
            <a:ext cx="156362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52759" y="5330951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PCNSL BTKi 前移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Ibrutinib 联合 R-MVP 治疗新诊断 PCNSL</a:t>
            </a:r>
            <a:br/>
            <a:r>
              <a:t>Ibrutinib + R-MVP for newly diagnosed primary CNS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Neuro Oncol | Lauren R Schaff | PMID 41557853 | 单中心 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BTKi 在 PCNSL 中不只是复发补救；ibrutinib 已被前移进入新诊断 PCNSL 组合诱导探索。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R-MVP 基础上加入 ibrutinib，目标是提高新诊断 PCNSL 完全缓解率。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共入组 30 例，中位年龄 69 岁；29 例完成 R-MVP/i。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达 29/30，提示 BTK 抑制前移有较强诱导活性。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率 97%，2 年 PFS 84.2%。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文摘显示未观察到 5 级毒性。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更适合解读为前移可行性和深度缓解信号。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已验证证据：R-MVP/i 诱导取得高 CR/CRu。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作者观点：加入 ibrutinib 可能提高完全缓解深度。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我的推断：CNSL 监测要看 BTKi 在诱导、巩固、维持中的位置变化。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背景：HD-MTX 仍是一线主干，但新诊断 PCNSL 仍需提高缓解深度。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方法：在 R-MVP 组合中加入 ibrutinib，观察 CR 提升。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结果：30 例中 29 例达 CR/CRu，1 例 PR；中位随访 25.1 个月，PFS/OS 中位未达到。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安全性：文摘未见 5 级毒性。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新诊断 primary CNS lymphoma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Ibrutinib 联合 rituximab、MTX、vincristine、procarbazine 诱导。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历史 R-MVP / HD-MTX 主干背景；本研究为单臂 II 期，无随机对照。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CR/CRu、PFS、OS、严重毒性和 5 级毒性。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3774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完成 R-MVP/i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252004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CR / CRu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252004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8599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1/30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2 年 PFS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2194285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84.2%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5120640" cy="1097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读法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这是单臂 II 期，不应用作直接优于标准方案的结论；价值在于 BTKi 前移进入新诊断 PCNSL 的方向信号。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ID-PCNSL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免疫缺陷相关 PCNSL：国际协作组研究</a:t>
            </a:r>
            <a:br/>
            <a:r>
              <a:t>Immunodeficiency-associated primary CNS lymphomas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Blood | Leon D Kaulen | PMID 41843467 | 国际多中心回顾性研究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免疫缺陷相关 PCNSL 不是普通 PCNSL 的简单复制版；免疫背景和 EBV 状态要进入固定字段。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23 个中心、7 个国家，共 308 例 ID-PCNSL。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基础免疫缺陷包括移植后免疫抑制、自身免疫病免疫抑制和 HIV。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所有肿瘤均为 DLBCL，EBV 阳性比例高。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免疫重建联合 RM 方案获得更高应答率和更长 PFS。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中位 OS 54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年龄、KPS&lt;70、EBV 阳性均是 OS 不良因素。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已验证证据：ID-PCNSL 是不同的 PCNSL 亚群。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作者观点：需要专门预后分层。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我的推断：免疫缺陷背景、EBV 状态和免疫重建路径应进入固定字段。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ID-PCNSL：免疫背景与预后因素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背景：ID-PCNSL 缺少大样本研究和可靠预后模型。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方法：国际多中心回顾队列，分析临床、病理、影像和治疗结局。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结果：移植相关 41.2%，自身免疫相关 36.7%，HIV 21.7%；EBV 阳性 79.2%。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预后：年龄、低 KPS、EBV 阳性与更差 OS 独立相关。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免疫缺陷相关 PCNSL，来自 23 个中心、7 个国家的回顾队列。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移植后免疫抑制、自身免疫病免疫抑制、HIV、EBV 阳性等背景。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不同免疫缺陷背景、免疫重建路径和预后因素分层。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应答率、PFS、OS，以及年龄、KPS、EBV 状态的 HR。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免疫缺陷背景构成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移植后免疫抑制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107368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自身免疫病免疫抑制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95641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HIV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56551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21.7%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206398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79.2%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874519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预后因素 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年龄 每增加 1 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20624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206240"/>
            <a:ext cx="68278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59" y="4178807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KPS &lt;70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59028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590288"/>
            <a:ext cx="201968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59" y="4562855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97433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4974336"/>
            <a:ext cx="2123922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52759" y="4946903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CNS 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DLBCL CNS 预防的疗效与毒性（CLSG-CNS-01）</a:t>
            </a:r>
            <a:br/>
            <a:r>
              <a:t>The Efficacy and Toxicity of CNS Prophylaxis in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Hematol Oncol | H Mocikova | PMID 42062177 | 随机、多中心、前瞻性 III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该随机试验未证明静脉 HD-MTX 预防优于鞘内 MTX；毒性代价更清晰。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中高危 CNS-IPI 随机接受 2 次静脉 HD-MTX 或 6 次鞘内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总计入组 100 例：A 组 30，B 组 31，C 组 39；中位随访 54.9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CNS 复发 A 组 0%，B 组 8.7%，但样本量不足。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静脉 HD-MTX 组 G≥3 中性粒细胞减少和感染更多。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OS：静脉组 47.2%，鞘内组 72.4%。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作者认为仍需更大国际随机研究。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已验证证据：未给出静脉预防更优的坚实证据。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作者观点：需要更大随机试验。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 预防会转向精准识别真正高风险者。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DLBCL CNS 预防：结局与毒性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背景：DLBCL 的 CNS 预防长期存在静脉高剂量 vs 鞘内争议。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方法：中高危 CNS-IPI 随机分配到静脉 MTX 或鞘内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结果：5 年 CNS 复发 A 组 0%，B 组 8.7%，PFS 无显著差异。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毒性：静脉组重度中性粒细胞减少和感染更多。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中高危 CNS-IPI 的系统性 DLBCL 患者；另有低危不预防观察组。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 次 3 g/m² 静脉高剂量 methotrexate CNS 预防。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6 次 12 mg 鞘内 methotrexate；低危组不接受 CNS 预防。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5 年 CNS 复发、PFS、OS、G≥3 中性粒细胞减少和感染。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5 年结局对比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CNS 复发 静脉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83080"/>
            <a:ext cx="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755648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CNS 复发 鞘内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167128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167128"/>
            <a:ext cx="226725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59" y="2139696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5 年 OS 静脉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551176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551176"/>
            <a:ext cx="123005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59" y="2523744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47.2%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554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18212B"/>
                </a:solidFill>
                <a:latin typeface="Microsoft YaHei"/>
              </a:rPr>
              <a:t>5 年 OS 鞘内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935224"/>
            <a:ext cx="260603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35224"/>
            <a:ext cx="188677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59" y="2907792"/>
            <a:ext cx="5486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72.4%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研究设计与毒性提示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A 组 30，B 组 31，C 组 39；样本量不足，不能过度解读 0% vs 8.7%。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静脉 HD-MTX 组重度中性粒细胞减少 p=0.0003、感染 p=0.0063。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毒性和系统治疗延迟本身就是重要结局。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7 / DLBCL 综合管理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2026 年 DLBCL 管理更新</a:t>
            </a:r>
            <a:br/>
            <a:r>
              <a:t>2026 Update on the Management of Diffuse Large B-Cell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Am J Hematol | Chong EA et al. | PMID 41654318 | Review / 治疗排序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这篇综述适合作为 DLBCL 治疗排序总框架，用来串联一线、二线、CAR-T、双抗、ADC 和后线治疗选择。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覆盖 DLBCL 管理在 2026 年的证据更新，重点是分层治疗和后线选择。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价值不在单一 ORR，而在把 CAR-T、双抗、ADC 与传统免疫化疗放入同一排序框架。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适合作为每天监测时的背景框架，帮助判断新文献属于哪条治疗路径。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PubMed 类型为 Review，并有 PMC 全文记录。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后续可优先补充开放全文中的核心图表、治疗路径图或排序表。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本页暂不复制原图；PPT 采用可编辑文字框。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记录显示这是 2026 年 DLBCL 管理综述。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作者观点：需以全文为准；本页不扩展成具体治疗建议。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我的推断：可作为治疗排序地图，但不能替代具体试验数据。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8 / CAR-T 与双抗排序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LBCL 中 CAR-T 与双抗序贯治疗</a:t>
            </a:r>
            <a:br/>
            <a:r>
              <a:t>Chimeric antigen receptor T-cell therapy and bispecific antibody sequence for large B-cell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Lancet Haematol | Sorin M et al. | PMID 41448213 | Systematic Review / Meta-Analysis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这篇 meta 分析直接服务于先 CAR-T 还是先双抗、以及失败后如何接续的方案设计问题。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研究对象是 large B-cell lymphoma，聚焦 CAR-T 与双抗的序贯关系。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PICO：P 为 LBCL；I/C 为不同 CAR-T 与双抗先后顺序；O 为疗效与安全性结局。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适合作为后线排序讨论的证据入口，而不是某个单药疗效结论。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期刊为 Lancet Haematol，文献类型为 Systematic Review 和 Meta-Analysis。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后续若全文图表可用，优先提取 PRISMA 流程图、森林图或亚组图。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本日报先纳入题名、PMID、期刊和结构化启示。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记录确认主题是 LBCL 中 CAR-T 与双抗序贯。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作者观点：需以全文具体结论为准。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我的推断：日报应把 CAR-T 前/后、双抗前/后作为固定字段。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9 / 双抗实施效率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美国 DLBCL/FL 中单一与多种双抗使用的运营效率</a:t>
            </a:r>
            <a:br/>
            <a:r>
              <a:t>Operational efficiencies of using one vs multiple bispecific antibodies for DLBCL and FL in the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Future Oncol | Graff T et al. | PMID 41757741 | 双抗实施路径 / 运营效率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双抗进入真实临床后，实施效率、药物组合复杂度和中心运营能力会成为疗法可及性的关键变量。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比较美国 DLBCL/FL 场景中使用一种或多种双抗带来的运营效率差异。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研究对象不是疗效终点，而是治疗落地过程中的中心流程和资源消耗。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与 epcoritamab 门诊化主题互补：一个看患者路径，一个看机构路径。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PubMed 记录有 PMC 全文，后续可提取流程图或模型结构图。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该文有 2026 年 5 月 erratum 记录，后续引用时应核对更正内容。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可作为双抗门诊化和运营负担讨论的补充证据。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记录确认主题为 DLBCL/FL 双抗运营效率。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作者观点：运营效率模型的具体结论需阅读全文。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我的推断：方案设计不能只看药物疗效，也要看监测、药房和护理负担。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10 / 原发难治 DLBCL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不适合 CAR-T 的原发难治 DLBCL 管理</a:t>
            </a:r>
            <a:br/>
            <a:r>
              <a:t>Management of Primary Refractory DLBCL in Patients Unsuitable for CAR T-Cell Therapy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Eur J Haematol | Caserta S et al. | PMID 41793237 | Review / 后线治疗排序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原发难治且不适合 CAR-T 的 DLBCL 是独立方案设计场景，不能简单套用 CAR-T 可及人群的排序逻辑。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综述关注 primary refractory DLBCL，尤其是不适合 CAR-T 的患者。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核心问题是 CAR-T 不可用时，双抗、ADC、靶向联合和传统挽救方案如何排序。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与 CAR-T 后双抗、CAR-T/双抗序贯 meta 分析共同构成后线治疗地图。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PubMed 类型为 Review，2026 年 6 月纸刊，且有 PMC 全文记录。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后续可优先提取 review 中治疗路径图、可及性分层图或方案排序表。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本页明确标记为近期高相关参考/补充，不作为近 7 天新增。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记录确认对象为不适合 CAR-T 的原发难治 DLBCL。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作者观点：具体排序需以全文为准。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我的推断：日报应单独标记 CAR-T unsuitable，避免把可及性限制误读为疗效问题。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Daily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今日综合判断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DLBCL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本日主线不是单个颠覆性疗效，而是双抗在排序、门诊化和安全边界上继续细化。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后双抗仍可用，但复发时间决定价值高低。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双抗门诊化把实施路径变成核心研究问题。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CNSL / PCNSL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PCNSL 重点继续盯 BTKi 前移，以及不同免疫背景下的异质性。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新诊断 PCNSL 中 ibrutinib 前移信号强。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ID-PCNSL 说明免疫缺陷背景不能被当作普通 PCNSL 的脚注。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机制与转化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后续最值得监测的转化问题仍是耐药生物学、宿主状态和非肿瘤毒性。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后双抗应答差异、EBV 阳性预后分层、双抗心血管安全信号都值得保留。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治疗排序 / 方案设计启示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固定记录：治疗类别、治疗线数、是否 CAR-T 后、复发时间、住院/门诊、CNS 角色、关键毒性。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这些字段比单独记 ORR 更接近真实决策。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10972800" cy="868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既往每日回看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2026-06-03：https://zhengyipharmacy-collab.github.io/pubmed-lymphoma-slides/archive/2026-06-03/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2026-06-02：https://zhengyipharmacy-collab.github.io/pubmed-lymphoma-slides/archive/2026-06-02/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2026-06-01：https://zhengyipharmacy-collab.github.io/pubmed-lymphoma-slides/archive/2026-06-01/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