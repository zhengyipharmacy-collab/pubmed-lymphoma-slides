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D6E72"/>
                </a:solidFill>
                <a:latin typeface="Microsoft YaHei"/>
              </a:rPr>
              <a:t>PubMed daily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512064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18212B"/>
                </a:solidFill>
                <a:latin typeface="Microsoft YaHei"/>
              </a:rPr>
              <a:t>DLBCL / CNSL 新治疗文献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658368"/>
            <a:ext cx="4846320" cy="9144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查询范围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 PubMed 新增/更新窗口：2026-05-26 至 2026-06-02。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783080"/>
            <a:ext cx="48463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本日总体结论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天窗口内高相关命中不密集，但双抗安全性出现新的高相关信号。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近期主线仍是双抗 CAR-T 后排序、双抗门诊化、BTKi 在 PCNSL 前移，以及 CNS 预防毒性代价。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 PPT 为可编辑版，配套 HTML、PDF 和每日归档链接。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164592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下载与归档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固定入口：https://zhengyipharmacy-collab.github.io/pubmed-lymphoma-slides/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PDF：pubmed-dlbcl-cnsl-btki-2026-06-02.pdf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PPTX：pubmed-dlbcl-cnsl-btki-2026-06-02.pptx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归档：archive/2026-06-02/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双抗安全性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复发/难治 B 细胞 NHL 双抗相关心血管不良事件</a:t>
            </a:r>
            <a:br/>
            <a:r>
              <a:t>Cardiovascular adverse events associated with bispecific antibodies in R/R B-cell NHL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J Hematol Oncol | Malak Munir | PMID 42192442 | B-cell NHL / DLBCL 双抗安全性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双抗相关不良事件不能只盯 CRS/ICANS；心血管不良事件和死亡信号值得前移监测。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FAERS 2022-12 至 2025-09，分析 mosunetuzumab、glofitamab、epcoritamab。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1,931 份双抗相关 AE 中，336 份报告出现心血管事件。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常见事件为休克、出血、低血压；节律异常并不总与 CRS 同步。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CVAE 占 17.4%；CVAE 中 39.3% 为致死报告。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低血压 aROR 2.15；致死性 CVAE aROR 2.04。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低血压信号更强；mosunetuzumab 更偏节律异常。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已验证证据：双抗存在可见心血管毒性信号。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作者观点：需要风险分层和针对性心血管评估。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我的推断：门诊化后基线心血管风险会变成方案设计变量。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双抗相关心血管 AE：摘要数字重绘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背景：已获批双抗从试验环境扩展到 R/R B-cell NHL 实践，心血管毒性识别不足。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方法：回顾 FAERS 自发上报数据，比较双抗相关 CVAE 与全库其他药物报告。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结果：低血压、出血、休克最常见；低血压和致死 CVAE 的类效应信号突出。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局限：自发上报数据库不能给真实发生率，存在漏报和混杂。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中 R/R B-cell NHL 双抗相关 AE 报告，直接关联 DLBCL 双抗使用场景。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Mosunetuzumab、glofitamab、epcoritamab 等 CD20/CD3 双抗。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全库其他药物报告，以及双抗相关非 CVAE 报告。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CVAE、低血压、休克、出血、心律失常和致死性 CVAE。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双抗相关 AE 中的心血管负担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CVAE / 双抗 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45345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/ CVAE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2417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CRS 并发 / 双抗 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70417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33.4%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945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关键信号强度 aROR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双抗整体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1402049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CVAE 双抗整体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32908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epcoritamab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54538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202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房颤/房扑 mosunetuzumab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221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5221224"/>
            <a:ext cx="198059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5193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CAR-T 后双抗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失败后 R/R LBCL 双抗挽救治疗</a:t>
            </a:r>
            <a:br/>
            <a:r>
              <a:t>Anti-CD3/CD20 bispecific antibodies after CAR-T failure in R/R 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Ann Hematol | Ning Yuan | PMID 42118323 | 系统综述 + Meta 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失败后 CD3×CD20 双抗仍有活性，但疗效明显受复发时间影响。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纳入 15 项研究、1,169 例 CAR-T 后进展的 R/R LBCL 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合并 ORR 45%，CR 30%；低于 CAR-T naive 人群。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后越晚复发，双抗应答越好。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≤90 天复发 ORR 26%；181 天到 1 年复发 ORR 71%。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在纳入数据里 ORR 最高。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联合方案和皮下给药的应答优于单药和静脉方案。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已验证证据：CAR-T 暴露史降低双抗总体疗效。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作者观点：双抗是 CAR-T 失败后的挽救路径。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我的推断：日报必须固定记录 CAR-T 前/后和复发间隔。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CAR-T 后双抗挽救治疗：结构化摘要与 PICO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目的：评估 CAR-T 失败后 CD3×CD20 双抗在 R/R LBCL 的疗效与安全性。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方法：系统回顾 2021-2025 年临床研究，随机效应模型合并分析。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结果：合并 ORR 45%，CR 30%；早复发组疗效最差，晚复发组疗效最好。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安全性：CRS 最常见，多为 1-2 级；神经毒性和血液学毒性可控。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后进展或复发的 R/R LBCL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CD3×CD20 双抗，包括 epcoritamab、glofitamab、mosunetuzumab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naive 双抗人群、不同复发时间亚组、单药/联合和 SC/IV 给药亚组。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ORR、CR、CRS、神经毒性；重点看 CAR-T 后复发间隔对疗效的影响。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172717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78181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798167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67757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485442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8502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Review / Meta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后双抗：主要 Figure 与流程图复刻</a:t>
            </a:r>
            <a:br/>
            <a:r>
              <a:t>Review / meta figure and clinical flow chart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2024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1920240"/>
            <a:ext cx="72511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59" y="189280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0428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304288"/>
            <a:ext cx="1589684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27685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70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68833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2688336"/>
            <a:ext cx="198013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266090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9651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11480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114800"/>
            <a:ext cx="125501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408736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49884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4498848"/>
            <a:ext cx="83667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59" y="447141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6460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88289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4882896"/>
            <a:ext cx="1924354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485546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17320"/>
            <a:ext cx="5120640" cy="19659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流程图式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CAR-T 失败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记录复发/进展距 CAR-T 的时间。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5794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2954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6106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时间分层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6106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≤90 天、91-180 天、181 天-1 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6236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3396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6548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双抗变量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6548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药物、单/联合、皮下/静脉给药。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6678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3838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6990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结局判断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6990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ORR/CR，同时核对 CRS 与神经毒性。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03320"/>
            <a:ext cx="5120640" cy="16916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Figure / chart 说明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本页不是原文图片复制，而是基于摘要数字和研究逻辑重绘的可编辑图形与流程图；若 review 原文有开放许可 figure，后续优先贴入原图或按原图结构复刻。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双抗门诊化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Epcoritamab 单药门诊治疗 R/R DLBCL</a:t>
            </a:r>
            <a:br/>
            <a:r>
              <a:t>Epcoritamab monotherapy as outpatient treatment for R/R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Clin Lymphoma Myeloma Leuk | David Andorsky | PMID 41881714 | 临床试验中期结果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的重点不只是有效，而是把 DLBCL 双抗推进到门诊给药和门诊监测路径。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EPCORE NHL-6 评估 2L+ R/R DLBCL 皮下注射 epcoritamab 的门诊实施。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首个完整剂量后，门诊路径本身成为研究问题。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研究跟踪 CRS、ICANS 和首剂后监测时点。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公开更新数据显示 92% 首次完整剂量在门诊完成监测。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ORR 62.0%，CR 42.4%；2L ORR 64.3%，CR 47.6%。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CRS 40.2%，ICANS 7.6%。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已验证证据：epcoritamab 具备门诊实施可行性。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作者观点：常规住院监测不是唯一可行路径。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我的推断：未来比较的是药物 + 监测成本 + 可及性的组合。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Epcoritamab 门诊化：实施与疗效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背景：既往获批路径通常要求首次完整剂量后住院监测，限制双抗可及性。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设计：28 天为一周期，step-up 后给 48 mg 完整剂量。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结果：92 例入组，88 例接受首次完整剂量；81 例在门诊完成监测。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备注：图表采用同研究公开更新数据补足细项。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2L+ R/R DLBCL 患者，接受 epcoritamab 皮下注射治疗。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Step-up dosing 后首个完整剂量在门诊监测的实施路径。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既往要求住院监测的 epcoritamab 路径与历史安全性背景。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门诊完成比例、CRS、ICANS、ORR、CR 和分线疗效。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门诊实施与安全性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首次完整剂量门诊监测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397556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CRS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47628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ICANS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9805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完整剂量后 CRS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82872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31.8%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疗效公开更新数据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161574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110496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2L ORR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16756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64.3%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34009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3L+ ORR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5358383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5279" y="5358383"/>
            <a:ext cx="156362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52759" y="5330951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PCNSL BTKi 前移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Ibrutinib 联合 R-MVP 治疗新诊断 PCNSL</a:t>
            </a:r>
            <a:br/>
            <a:r>
              <a:t>Ibrutinib + R-MVP for newly diagnosed primary CNS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Neuro Oncol | Lauren R Schaff | PMID 41557853 | 单中心 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BTKi 在 PCNSL 中不只是复发补救；ibrutinib 已被前移进入新诊断 PCNSL 组合诱导探索。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R-MVP 基础上加入 ibrutinib，目标是提高新诊断 PCNSL 完全缓解率。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共入组 30 例，中位年龄 69 岁；29 例完成 R-MVP/i。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达 29/30，提示 BTK 抑制前移有较强诱导活性。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率 97%，2 年 PFS 84.2%。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文摘显示未观察到 5 级毒性。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更适合解读为前移可行性和深度缓解信号。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已验证证据：R-MVP/i 诱导取得高 CR/CRu。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作者观点：加入 ibrutinib 可能提高完全缓解深度。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我的推断：CNSL 监测要看 BTKi 在诱导、巩固、维持中的位置变化。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背景：HD-MTX 仍是一线主干，但新诊断 PCNSL 仍需提高缓解深度。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方法：在 R-MVP 组合中加入 ibrutinib，观察 CR 提升。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结果：30 例中 29 例达 CR/CRu，1 例 PR；中位随访 25.1 个月，PFS/OS 中位未达到。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安全性：文摘未见 5 级毒性。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新诊断 primary CNS lymphoma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Ibrutinib 联合 rituximab、MTX、vincristine、procarbazine 诱导。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历史 R-MVP / HD-MTX 主干背景；本研究为单臂 II 期，无随机对照。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CR/CRu、PFS、OS、严重毒性和 5 级毒性。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完成 R-MVP/i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52004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 / CRu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52004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599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 年 PFS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19428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84.2%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120640" cy="1097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读法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这是单臂 II 期，不应用作直接优于标准方案的结论；价值在于 BTKi 前移进入新诊断 PCNSL 的方向信号。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ID-PCNSL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免疫缺陷相关 PCNSL：国际协作组研究</a:t>
            </a:r>
            <a:br/>
            <a:r>
              <a:t>Immunodeficiency-associated primary CNS lymphomas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Blood | Leon D Kaulen | PMID 41843467 | 国际多中心回顾性研究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免疫缺陷相关 PCNSL 不是普通 PCNSL 的简单复制版；免疫背景和 EBV 状态要进入固定字段。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23 个中心、7 个国家，共 308 例 ID-PCNSL。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基础免疫缺陷包括移植后免疫抑制、自身免疫病免疫抑制和 HIV。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所有肿瘤均为 DLBCL，EBV 阳性比例高。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免疫重建联合 RM 方案获得更高应答率和更长 PFS。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中位 OS 54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年龄、KPS&lt;70、EBV 阳性均是 OS 不良因素。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已验证证据：ID-PCNSL 是不同的 PCNSL 亚群。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作者观点：需要专门预后分层。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我的推断：免疫缺陷背景、EBV 状态和免疫重建路径应进入固定字段。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ID-PCNSL：免疫背景与预后因素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背景：ID-PCNSL 缺少大样本研究和可靠预后模型。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方法：国际多中心回顾队列，分析临床、病理、影像和治疗结局。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结果：移植相关 41.2%，自身免疫相关 36.7%，HIV 21.7%；EBV 阳性 79.2%。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预后：年龄、低 KPS、EBV 阳性与更差 OS 独立相关。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免疫缺陷相关 PCNSL，来自 23 个中心、7 个国家的回顾队列。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移植后免疫抑制、自身免疫病免疫抑制、HIV、EBV 阳性等背景。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不同免疫缺陷背景、免疫重建路径和预后因素分层。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应答率、PFS、OS，以及年龄、KPS、EBV 状态的 HR。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免疫缺陷背景构成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移植后免疫抑制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0736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自身免疫病免疫抑制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95641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HIV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56551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0639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79.2%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874519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预后因素 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年龄 每增加 1 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68278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KPS &lt;70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201968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212392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CNS 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DLBCL CNS 预防的疗效与毒性（CLSG-CNS-01）</a:t>
            </a:r>
            <a:br/>
            <a:r>
              <a:t>The Efficacy and Toxicity of CNS Prophylaxis in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Hematol Oncol | H Mocikova | PMID 42062177 | 随机、多中心、前瞻性 III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该随机试验未证明静脉 HD-MTX 预防优于鞘内 MTX；毒性代价更清晰。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中高危 CNS-IPI 随机接受 2 次静脉 HD-MTX 或 6 次鞘内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总计入组 100 例：A 组 30，B 组 31，C 组 39；中位随访 54.9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CNS 复发 A 组 0%，B 组 8.7%，但样本量不足。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静脉 HD-MTX 组 G≥3 中性粒细胞减少和感染更多。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OS：静脉组 47.2%，鞘内组 72.4%。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作者认为仍需更大国际随机研究。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已验证证据：未给出静脉预防更优的坚实证据。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作者观点：需要更大随机试验。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 预防会转向精准识别真正高风险者。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DLBCL CNS 预防：结局与毒性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背景：DLBCL 的 CNS 预防长期存在静脉高剂量 vs 鞘内争议。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方法：中高危 CNS-IPI 随机分配到静脉 MTX 或鞘内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结果：5 年 CNS 复发 A 组 0%，B 组 8.7%，PFS 无显著差异。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毒性：静脉组重度中性粒细胞减少和感染更多。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中高危 CNS-IPI 的系统性 DLBCL 患者；另有低危不预防观察组。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 次 3 g/m² 静脉高剂量 methotrexate CNS 预防。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6 次 12 mg 鞘内 methotrexate；低危组不接受 CNS 预防。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5 年 CNS 复发、PFS、OS、G≥3 中性粒细胞减少和感染。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5 年结局对比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静脉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鞘内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26725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静脉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23005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鞘内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188677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72.4%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研究设计与毒性提示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A 组 30，B 组 31，C 组 39；样本量不足，不能过度解读 0% vs 8.7%。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静脉 HD-MTX 组重度中性粒细胞减少 p=0.0003、感染 p=0.0063。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毒性和系统治疗延迟本身就是重要结局。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Daily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今日综合判断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>
                <a:solidFill>
                  <a:srgbClr val="586474"/>
                </a:solidFill>
                <a:latin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DLBCL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本日主线不是单个颠覆性疗效，而是双抗在排序、门诊化和安全边界上继续细化。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后双抗仍可用，但复发时间决定价值高低。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双抗门诊化把实施路径变成核心研究问题。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CNSL / PCNSL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PCNSL 重点继续盯 BTKi 前移，以及不同免疫背景下的异质性。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新诊断 PCNSL 中 ibrutinib 前移信号强。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ID-PCNSL 说明免疫缺陷背景不能被当作普通 PCNSL 的脚注。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机制与转化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后续最值得监测的转化问题仍是耐药生物学、宿主状态和非肿瘤毒性。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后双抗应答差异、EBV 阳性预后分层、双抗心血管安全信号都值得保留。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治疗排序 / 方案设计启示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固定记录：治疗类别、治疗线数、是否 CAR-T 后、复发时间、住院/门诊、CNS 角色、关键毒性。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这些字段比单独记 ORR 更接近真实决策。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10972800" cy="868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既往每日回看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2026-06-02：https://zhengyipharmacy-collab.github.io/pubmed-lymphoma-slides/archive/2026-06-02/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2026-06-01：https://zhengyipharmacy-collab.github.io/pubmed-lymphoma-slides/archive/2026-06-01/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